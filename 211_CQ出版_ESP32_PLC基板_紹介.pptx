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60" r:id="rId2"/>
    <p:sldId id="256" r:id="rId3"/>
    <p:sldId id="257" r:id="rId4"/>
    <p:sldId id="258" r:id="rId5"/>
    <p:sldId id="259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BF784E-E2F9-426B-B944-F667A1425B67}" type="datetimeFigureOut">
              <a:rPr kumimoji="1" lang="ja-JP" altLang="en-US" smtClean="0"/>
              <a:t>2026/10/23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741A26-19D2-47C5-9B0D-DA1335F5CD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4513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3796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マイコン実習2026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543800" y="653796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CQ出版 Interface「ESP32でPLC サポートページ」を参考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38912"/>
            <a:ext cx="10241280" cy="512064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3000" b="1">
                <a:solidFill>
                  <a:srgbClr val="17324D"/>
                </a:solidFill>
              </a:rPr>
              <a:t>この授業のゴール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10058400" cy="56692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2200" b="1">
                <a:solidFill>
                  <a:srgbClr val="2F6D52"/>
                </a:solidFill>
              </a:rPr>
              <a:t>PLC（ラダー）で実現しているシーケンス制御を、マイコン + Python でも実現する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47088"/>
            <a:ext cx="2788920" cy="1005840"/>
          </a:xfrm>
          <a:prstGeom prst="round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2100" b="1">
                <a:solidFill>
                  <a:srgbClr val="FFFFFF"/>
                </a:solidFill>
              </a:rPr>
              <a:t>PLC
ラダープログラム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84448" y="2048256"/>
            <a:ext cx="1097280" cy="45720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700" b="1">
                <a:solidFill>
                  <a:srgbClr val="F28C28"/>
                </a:solidFill>
              </a:rPr>
              <a:t>同じ
制御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81728" y="1847088"/>
            <a:ext cx="2788920" cy="1005840"/>
          </a:xfrm>
          <a:prstGeom prst="roundRect">
            <a:avLst/>
          </a:prstGeom>
          <a:solidFill>
            <a:srgbClr val="2F6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2100" b="1">
                <a:solidFill>
                  <a:srgbClr val="FFFFFF"/>
                </a:solidFill>
              </a:rPr>
              <a:t>ESP32
MicroPython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54112" y="1664208"/>
            <a:ext cx="3246120" cy="1371600"/>
          </a:xfrm>
          <a:prstGeom prst="roundRect">
            <a:avLst/>
          </a:prstGeom>
          <a:solidFill>
            <a:srgbClr val="E6ECE8"/>
          </a:solidFill>
          <a:ln w="19050">
            <a:solidFill>
              <a:srgbClr val="2F6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1F2937"/>
                </a:solidFill>
              </a:rPr>
              <a:t>KENTEI くん
PB / LS → 判断 → PL / 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1993392"/>
            <a:ext cx="411480" cy="36576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383280"/>
            <a:ext cx="2331720" cy="365760"/>
          </a:xfrm>
          <a:prstGeom prst="rect">
            <a:avLst/>
          </a:prstGeom>
          <a:solidFill>
            <a:srgbClr val="2F6D52"/>
          </a:solidFill>
          <a:ln>
            <a:noFill/>
          </a:ln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今回実現する機能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931920"/>
            <a:ext cx="3063240" cy="777240"/>
          </a:xfrm>
          <a:prstGeom prst="round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① 手動モード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33087" y="3931920"/>
            <a:ext cx="3063240" cy="777240"/>
          </a:xfrm>
          <a:prstGeom prst="roundRect">
            <a:avLst/>
          </a:prstGeom>
          <a:solidFill>
            <a:srgbClr val="2F6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② 自動モード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3931920"/>
            <a:ext cx="3063240" cy="777240"/>
          </a:xfrm>
          <a:prstGeom prst="round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③ 非常停止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074920"/>
            <a:ext cx="10012680" cy="658368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</a:rPr>
              <a:t>仕様を読む → 小さく実装 → 実機で確認 → デバッグ → 次の機能へ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5806440"/>
            <a:ext cx="9966960" cy="38404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500" b="0">
                <a:solidFill>
                  <a:srgbClr val="6B7280"/>
                </a:solidFill>
              </a:rPr>
              <a:t>完成プログラムを写すのではなく、PLCで知っている動きを Python に置き換えていく。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8368"/>
            <a:ext cx="6812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24D"/>
                </a:solidFill>
              </a:rPr>
              <a:t>CQ出版 ESP32 PLC基板を使ってみる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1353312"/>
            <a:ext cx="6629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B7280"/>
                </a:solidFill>
              </a:rPr>
              <a:t>KENTEIくんを ESP32 + MicroPython で動かすための I/O 基板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58368" y="1938528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13232" y="1988820"/>
            <a:ext cx="1307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今日の位置づけ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423160"/>
            <a:ext cx="566928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</a:rPr>
              <a:t>PLCで使っている制御対象を、</a:t>
            </a:r>
            <a:r>
              <a:rPr lang="en-US" sz="2000" b="1" dirty="0">
                <a:solidFill>
                  <a:srgbClr val="2F6B9A"/>
                </a:solidFill>
              </a:rPr>
              <a:t>ESP32からも動かしてみる</a:t>
            </a:r>
            <a:r>
              <a:rPr lang="en-US" sz="2000" dirty="0">
                <a:solidFill>
                  <a:srgbClr val="1F2937"/>
                </a:solidFill>
              </a:rPr>
              <a:t>ための道具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85800" y="3474720"/>
            <a:ext cx="5669280" cy="1645920"/>
          </a:xfrm>
          <a:prstGeom prst="roundRect">
            <a:avLst>
              <a:gd name="adj" fmla="val 4444"/>
            </a:avLst>
          </a:prstGeom>
          <a:solidFill>
            <a:srgbClr val="EAF2F8"/>
          </a:solidFill>
          <a:ln w="12700">
            <a:solidFill>
              <a:srgbClr val="BCD1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165412" y="3972619"/>
            <a:ext cx="475488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内部回路の詳しい説明は今回はしません。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まずは「どこに何をつなぎ、どう読み書きするか」を使えるようにします。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498080" y="1417320"/>
            <a:ext cx="3886200" cy="4480560"/>
          </a:xfrm>
          <a:prstGeom prst="roundRect">
            <a:avLst>
              <a:gd name="adj" fmla="val 1882"/>
            </a:avLst>
          </a:prstGeom>
          <a:solidFill>
            <a:srgbClr val="2F6D52"/>
          </a:solidFill>
          <a:ln w="19050">
            <a:solidFill>
              <a:srgbClr val="24563F"/>
            </a:solidFill>
            <a:prstDash val="solid"/>
          </a:ln>
          <a:effectLst>
            <a:outerShdw blurRad="12700" dist="50800" dir="2700000" algn="bl" rotWithShape="0">
              <a:srgbClr val="AAB3BB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7607808" y="1737360"/>
            <a:ext cx="384048" cy="466344"/>
          </a:xfrm>
          <a:prstGeom prst="rect">
            <a:avLst/>
          </a:prstGeom>
          <a:solidFill>
            <a:srgbClr val="E6ECE8"/>
          </a:solidFill>
          <a:ln w="6350">
            <a:solidFill>
              <a:srgbClr val="BFC8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7607808" y="2217420"/>
            <a:ext cx="384048" cy="466344"/>
          </a:xfrm>
          <a:prstGeom prst="rect">
            <a:avLst/>
          </a:prstGeom>
          <a:solidFill>
            <a:srgbClr val="E6ECE8"/>
          </a:solidFill>
          <a:ln w="6350">
            <a:solidFill>
              <a:srgbClr val="BFC8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7607808" y="2697480"/>
            <a:ext cx="384048" cy="466344"/>
          </a:xfrm>
          <a:prstGeom prst="rect">
            <a:avLst/>
          </a:prstGeom>
          <a:solidFill>
            <a:srgbClr val="E6ECE8"/>
          </a:solidFill>
          <a:ln w="6350">
            <a:solidFill>
              <a:srgbClr val="BFC8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7607808" y="3177540"/>
            <a:ext cx="384048" cy="466344"/>
          </a:xfrm>
          <a:prstGeom prst="rect">
            <a:avLst/>
          </a:prstGeom>
          <a:solidFill>
            <a:srgbClr val="E6ECE8"/>
          </a:solidFill>
          <a:ln w="6350">
            <a:solidFill>
              <a:srgbClr val="BFC8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7607808" y="3657600"/>
            <a:ext cx="384048" cy="466344"/>
          </a:xfrm>
          <a:prstGeom prst="rect">
            <a:avLst/>
          </a:prstGeom>
          <a:solidFill>
            <a:srgbClr val="E6ECE8"/>
          </a:solidFill>
          <a:ln w="6350">
            <a:solidFill>
              <a:srgbClr val="BFC8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607808" y="4137660"/>
            <a:ext cx="384048" cy="466344"/>
          </a:xfrm>
          <a:prstGeom prst="rect">
            <a:avLst/>
          </a:prstGeom>
          <a:solidFill>
            <a:srgbClr val="E6ECE8"/>
          </a:solidFill>
          <a:ln w="6350">
            <a:solidFill>
              <a:srgbClr val="BFC8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607808" y="4617720"/>
            <a:ext cx="384048" cy="466344"/>
          </a:xfrm>
          <a:prstGeom prst="rect">
            <a:avLst/>
          </a:prstGeom>
          <a:solidFill>
            <a:srgbClr val="E6ECE8"/>
          </a:solidFill>
          <a:ln w="6350">
            <a:solidFill>
              <a:srgbClr val="BFC8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7607808" y="5097780"/>
            <a:ext cx="384048" cy="466344"/>
          </a:xfrm>
          <a:prstGeom prst="rect">
            <a:avLst/>
          </a:prstGeom>
          <a:solidFill>
            <a:srgbClr val="E6ECE8"/>
          </a:solidFill>
          <a:ln w="6350">
            <a:solidFill>
              <a:srgbClr val="BFC8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10890504" y="1737360"/>
            <a:ext cx="384048" cy="466344"/>
          </a:xfrm>
          <a:prstGeom prst="rect">
            <a:avLst/>
          </a:prstGeom>
          <a:solidFill>
            <a:srgbClr val="E6ECE8"/>
          </a:solidFill>
          <a:ln w="6350">
            <a:solidFill>
              <a:srgbClr val="BFC8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10890504" y="2217420"/>
            <a:ext cx="384048" cy="466344"/>
          </a:xfrm>
          <a:prstGeom prst="rect">
            <a:avLst/>
          </a:prstGeom>
          <a:solidFill>
            <a:srgbClr val="E6ECE8"/>
          </a:solidFill>
          <a:ln w="6350">
            <a:solidFill>
              <a:srgbClr val="BFC8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10890504" y="2697480"/>
            <a:ext cx="384048" cy="466344"/>
          </a:xfrm>
          <a:prstGeom prst="rect">
            <a:avLst/>
          </a:prstGeom>
          <a:solidFill>
            <a:srgbClr val="E6ECE8"/>
          </a:solidFill>
          <a:ln w="6350">
            <a:solidFill>
              <a:srgbClr val="BFC8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10890504" y="3177540"/>
            <a:ext cx="384048" cy="466344"/>
          </a:xfrm>
          <a:prstGeom prst="rect">
            <a:avLst/>
          </a:prstGeom>
          <a:solidFill>
            <a:srgbClr val="E6ECE8"/>
          </a:solidFill>
          <a:ln w="6350">
            <a:solidFill>
              <a:srgbClr val="BFC8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10890504" y="3657600"/>
            <a:ext cx="384048" cy="466344"/>
          </a:xfrm>
          <a:prstGeom prst="rect">
            <a:avLst/>
          </a:prstGeom>
          <a:solidFill>
            <a:srgbClr val="E6ECE8"/>
          </a:solidFill>
          <a:ln w="6350">
            <a:solidFill>
              <a:srgbClr val="BFC8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10890504" y="4137660"/>
            <a:ext cx="384048" cy="466344"/>
          </a:xfrm>
          <a:prstGeom prst="rect">
            <a:avLst/>
          </a:prstGeom>
          <a:solidFill>
            <a:srgbClr val="E6ECE8"/>
          </a:solidFill>
          <a:ln w="6350">
            <a:solidFill>
              <a:srgbClr val="BFC8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10890504" y="4617720"/>
            <a:ext cx="384048" cy="466344"/>
          </a:xfrm>
          <a:prstGeom prst="rect">
            <a:avLst/>
          </a:prstGeom>
          <a:solidFill>
            <a:srgbClr val="E6ECE8"/>
          </a:solidFill>
          <a:ln w="6350">
            <a:solidFill>
              <a:srgbClr val="BFC8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10890504" y="5097780"/>
            <a:ext cx="384048" cy="466344"/>
          </a:xfrm>
          <a:prstGeom prst="rect">
            <a:avLst/>
          </a:prstGeom>
          <a:solidFill>
            <a:srgbClr val="E6ECE8"/>
          </a:solidFill>
          <a:ln w="6350">
            <a:solidFill>
              <a:srgbClr val="BFC8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8974836" y="1920240"/>
            <a:ext cx="932688" cy="3474720"/>
          </a:xfrm>
          <a:prstGeom prst="roundRect">
            <a:avLst>
              <a:gd name="adj" fmla="val 4902"/>
            </a:avLst>
          </a:prstGeom>
          <a:solidFill>
            <a:srgbClr val="1D2935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9110853" y="2167128"/>
            <a:ext cx="660654" cy="566928"/>
          </a:xfrm>
          <a:prstGeom prst="rect">
            <a:avLst/>
          </a:prstGeom>
          <a:solidFill>
            <a:srgbClr val="B7B7B7"/>
          </a:solidFill>
          <a:ln w="12700">
            <a:solidFill>
              <a:srgbClr val="8A8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9033129" y="2834640"/>
            <a:ext cx="8161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ESP32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DevKitC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046720" y="15270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DEFE4"/>
                </a:solidFill>
              </a:rPr>
              <a:t>INPUT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875520" y="15270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DEFE4"/>
                </a:solidFill>
              </a:rPr>
              <a:t>OUTPUT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156448" y="5495544"/>
            <a:ext cx="2569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EFE4"/>
                </a:solidFill>
              </a:rPr>
              <a:t>CQ出版 / Interface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452360" y="598932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</a:rPr>
              <a:t>ESP32-DevKitC + アイソレートI/O基板</a:t>
            </a:r>
            <a:endParaRPr lang="en-US" sz="12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使い方は「入力 → 判断 → 出力」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</a:rPr>
              <a:t>PLCでやっていることと、基本の流れは同じ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7240" y="1828800"/>
            <a:ext cx="2926080" cy="1188720"/>
          </a:xfrm>
          <a:prstGeom prst="roundRect">
            <a:avLst>
              <a:gd name="adj" fmla="val 5385"/>
            </a:avLst>
          </a:prstGeom>
          <a:solidFill>
            <a:srgbClr val="EAF2F8"/>
          </a:solidFill>
          <a:ln w="19050">
            <a:solidFill>
              <a:srgbClr val="2F6B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68680" y="202996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6B9A"/>
                </a:solidFill>
              </a:rPr>
              <a:t>入力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68680" y="248716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</a:rPr>
              <a:t>PB / LS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17720" y="1828800"/>
            <a:ext cx="2926080" cy="1188720"/>
          </a:xfrm>
          <a:prstGeom prst="roundRect">
            <a:avLst>
              <a:gd name="adj" fmla="val 5385"/>
            </a:avLst>
          </a:prstGeom>
          <a:solidFill>
            <a:srgbClr val="ECF7F1"/>
          </a:solidFill>
          <a:ln w="19050">
            <a:solidFill>
              <a:srgbClr val="3E7D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709160" y="202996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E7D59"/>
                </a:solidFill>
              </a:rPr>
              <a:t>判断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709160" y="248716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</a:rPr>
              <a:t>MicroPython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458200" y="1828800"/>
            <a:ext cx="2926080" cy="1188720"/>
          </a:xfrm>
          <a:prstGeom prst="roundRect">
            <a:avLst>
              <a:gd name="adj" fmla="val 5385"/>
            </a:avLst>
          </a:prstGeom>
          <a:solidFill>
            <a:srgbClr val="FFF0DF"/>
          </a:solidFill>
          <a:ln w="19050">
            <a:solidFill>
              <a:srgbClr val="F28C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549640" y="202996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8C28"/>
                </a:solidFill>
              </a:rPr>
              <a:t>出力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549640" y="248716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</a:rPr>
              <a:t>PL / RY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886200" y="2157984"/>
            <a:ext cx="502920" cy="502920"/>
          </a:xfrm>
          <a:prstGeom prst="chevron">
            <a:avLst/>
          </a:prstGeom>
          <a:solidFill>
            <a:srgbClr val="B6C4D2"/>
          </a:solidFill>
          <a:ln w="12700">
            <a:solidFill>
              <a:srgbClr val="B6C4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7726680" y="2157984"/>
            <a:ext cx="502920" cy="502920"/>
          </a:xfrm>
          <a:prstGeom prst="chevron">
            <a:avLst/>
          </a:prstGeom>
          <a:solidFill>
            <a:srgbClr val="B6C4D2"/>
          </a:solidFill>
          <a:ln w="12700">
            <a:solidFill>
              <a:srgbClr val="B6C4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914400" y="3520440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324D"/>
                </a:solidFill>
              </a:rPr>
              <a:t>KENTEIくんと ESP32 の間に、この PLC 基板が入る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31520" y="4160520"/>
            <a:ext cx="20574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240">
            <a:solidFill>
              <a:srgbClr val="D7DD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04672" y="4325112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</a:rPr>
              <a:t>KENTEIくん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04672" y="4690872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24 V の入出力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953512" y="4453128"/>
            <a:ext cx="347472" cy="347472"/>
          </a:xfrm>
          <a:prstGeom prst="chevron">
            <a:avLst/>
          </a:prstGeom>
          <a:solidFill>
            <a:srgbClr val="B6C4D2"/>
          </a:solidFill>
          <a:ln w="12700">
            <a:solidFill>
              <a:srgbClr val="B6C4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3246120" y="4160520"/>
            <a:ext cx="2331720" cy="960120"/>
          </a:xfrm>
          <a:prstGeom prst="roundRect">
            <a:avLst>
              <a:gd name="adj" fmla="val 4762"/>
            </a:avLst>
          </a:prstGeom>
          <a:solidFill>
            <a:srgbClr val="E9F3EC"/>
          </a:solidFill>
          <a:ln w="15240">
            <a:solidFill>
              <a:srgbClr val="3E7D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3319272" y="4325112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</a:rPr>
              <a:t>PLC基板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319272" y="4690872"/>
            <a:ext cx="2185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信号を受け渡す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742432" y="4453128"/>
            <a:ext cx="347472" cy="347472"/>
          </a:xfrm>
          <a:prstGeom prst="chevron">
            <a:avLst/>
          </a:prstGeom>
          <a:solidFill>
            <a:srgbClr val="B6C4D2"/>
          </a:solidFill>
          <a:ln w="12700">
            <a:solidFill>
              <a:srgbClr val="B6C4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6080760" y="4160520"/>
            <a:ext cx="214884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240">
            <a:solidFill>
              <a:srgbClr val="D7DD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153912" y="4325112"/>
            <a:ext cx="200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</a:rPr>
              <a:t>ESP32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153912" y="4690872"/>
            <a:ext cx="2002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GPIO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394192" y="4453128"/>
            <a:ext cx="347472" cy="347472"/>
          </a:xfrm>
          <a:prstGeom prst="chevron">
            <a:avLst/>
          </a:prstGeom>
          <a:solidFill>
            <a:srgbClr val="B6C4D2"/>
          </a:solidFill>
          <a:ln w="12700">
            <a:solidFill>
              <a:srgbClr val="B6C4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8732520" y="4160520"/>
            <a:ext cx="269748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240">
            <a:solidFill>
              <a:srgbClr val="D7DD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8805672" y="4325112"/>
            <a:ext cx="2551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</a:rPr>
              <a:t>MicroPython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805672" y="4690872"/>
            <a:ext cx="2551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Pin.value() / on() / off()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97280" y="566928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2937"/>
                </a:solidFill>
              </a:rPr>
              <a:t>今日は「中の回路」ではなく、この入出力の対応を使えるようになることが目標。</a:t>
            </a:r>
            <a:endParaRPr lang="en-US" sz="16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最重要：出力端子の使用禁止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</a:rPr>
              <a:t>ここだけは最初に覚える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508760"/>
            <a:ext cx="10561320" cy="2148840"/>
          </a:xfrm>
          <a:prstGeom prst="roundRect">
            <a:avLst>
              <a:gd name="adj" fmla="val 3404"/>
            </a:avLst>
          </a:prstGeom>
          <a:solidFill>
            <a:srgbClr val="FDE8E8"/>
          </a:solidFill>
          <a:ln w="30480">
            <a:solidFill>
              <a:srgbClr val="C43B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280160" y="1938528"/>
            <a:ext cx="9646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43B3B"/>
                </a:solidFill>
              </a:rPr>
              <a:t>QO0.0   と   QO0.2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280160" y="2788920"/>
            <a:ext cx="9646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C43B3B"/>
                </a:solidFill>
              </a:rPr>
              <a:t>授業では 使用禁止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828800" y="416052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</a:rPr>
              <a:t>この2点には配線しない・プログラムからも使用しない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103120" y="4828032"/>
            <a:ext cx="7955280" cy="0"/>
          </a:xfrm>
          <a:prstGeom prst="line">
            <a:avLst/>
          </a:prstGeom>
          <a:noFill/>
          <a:ln w="15240">
            <a:solidFill>
              <a:srgbClr val="D7DD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2011680" y="5074920"/>
            <a:ext cx="8138160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</a:rPr>
              <a:t>端子名と GPIO 番号は、配布する対応表を見ながら確認する。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</a:rPr>
              <a:t>「空いていそうだから使う」はしない。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最初にやること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</a:rPr>
              <a:t>いきなり自動運転には進まない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1581912"/>
            <a:ext cx="685800" cy="685800"/>
          </a:xfrm>
          <a:prstGeom prst="ellipse">
            <a:avLst/>
          </a:prstGeom>
          <a:solidFill>
            <a:srgbClr val="2F6B9A"/>
          </a:solidFill>
          <a:ln w="12700">
            <a:solidFill>
              <a:srgbClr val="2F6B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0120" y="167335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874520" y="1508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接続を確認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0" y="1536192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</a:rPr>
              <a:t>KENTEIくん ↔ PLC基板 ↔ ESP32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216152" y="2276856"/>
            <a:ext cx="0" cy="420624"/>
          </a:xfrm>
          <a:prstGeom prst="line">
            <a:avLst/>
          </a:prstGeom>
          <a:noFill/>
          <a:ln w="25400">
            <a:solidFill>
              <a:srgbClr val="C9D1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868680" y="2724912"/>
            <a:ext cx="685800" cy="685800"/>
          </a:xfrm>
          <a:prstGeom prst="ellipse">
            <a:avLst/>
          </a:prstGeom>
          <a:solidFill>
            <a:srgbClr val="3AA6B9"/>
          </a:solidFill>
          <a:ln w="12700">
            <a:solidFill>
              <a:srgbClr val="3AA6B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60120" y="281635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874520" y="2651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入力を1点読む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0" y="2679192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</a:rPr>
              <a:t>PBを押して 0 / 1 が変わることを確認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216152" y="3419856"/>
            <a:ext cx="0" cy="420624"/>
          </a:xfrm>
          <a:prstGeom prst="line">
            <a:avLst/>
          </a:prstGeom>
          <a:noFill/>
          <a:ln w="25400">
            <a:solidFill>
              <a:srgbClr val="C9D1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868680" y="3867912"/>
            <a:ext cx="685800" cy="68580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960120" y="395935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874520" y="3794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出力を1点動かす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572000" y="3822192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</a:rPr>
              <a:t>PL または RY を ON / OFF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216152" y="4562856"/>
            <a:ext cx="0" cy="420624"/>
          </a:xfrm>
          <a:prstGeom prst="line">
            <a:avLst/>
          </a:prstGeom>
          <a:noFill/>
          <a:ln w="25400">
            <a:solidFill>
              <a:srgbClr val="C9D1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868680" y="5010912"/>
            <a:ext cx="685800" cy="685800"/>
          </a:xfrm>
          <a:prstGeom prst="ellipse">
            <a:avLst/>
          </a:prstGeom>
          <a:solidFill>
            <a:srgbClr val="3E7D59"/>
          </a:solidFill>
          <a:ln w="12700">
            <a:solidFill>
              <a:srgbClr val="3E7D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960120" y="510235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874520" y="4937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手動モードへ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572000" y="4965192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</a:rPr>
              <a:t>PB2 / PB3 でコンベアを左右に動かす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554480" y="6080760"/>
            <a:ext cx="9098280" cy="384048"/>
          </a:xfrm>
          <a:prstGeom prst="roundRect">
            <a:avLst>
              <a:gd name="adj" fmla="val 9524"/>
            </a:avLst>
          </a:prstGeom>
          <a:solidFill>
            <a:srgbClr val="FFF0DF"/>
          </a:solidFill>
          <a:ln w="12700">
            <a:solidFill>
              <a:srgbClr val="F5C69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1737360" y="6163056"/>
            <a:ext cx="8732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A4D09"/>
                </a:solidFill>
              </a:rPr>
              <a:t>今日のゴール：PLC基板を使って KENTEIくんの手動モードを動かす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698480" cy="43891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l"/>
            <a:r>
              <a:rPr sz="2800" b="1">
                <a:solidFill>
                  <a:srgbClr val="17324D"/>
                </a:solidFill>
                <a:latin typeface="Aptos"/>
              </a:rPr>
              <a:t>PLC インタフェース基板の I/O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4846320" cy="274320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l"/>
            <a:r>
              <a:rPr sz="1600" b="1">
                <a:solidFill>
                  <a:srgbClr val="2F6D52"/>
                </a:solidFill>
                <a:latin typeface="Aptos"/>
              </a:rPr>
              <a:t>入力：IX0.0 ～ IX1.0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32120" y="804672"/>
            <a:ext cx="4846320" cy="274320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l"/>
            <a:r>
              <a:rPr sz="1600" b="1">
                <a:solidFill>
                  <a:srgbClr val="17324D"/>
                </a:solidFill>
                <a:latin typeface="Aptos"/>
              </a:rPr>
              <a:t>出力：QX0.0 ～ QX1.1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70432"/>
            <a:ext cx="10927080" cy="612648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Ins="128016" rtlCol="0" anchor="ctr"/>
          <a:lstStyle/>
          <a:p>
            <a:pPr algn="l"/>
            <a:r>
              <a:rPr sz="1500" b="1">
                <a:solidFill>
                  <a:srgbClr val="B91C1C"/>
                </a:solidFill>
                <a:latin typeface="Aptos"/>
              </a:rPr>
              <a:t>⚠ 注意：</a:t>
            </a:r>
            <a:r>
              <a:rPr sz="1400" b="1">
                <a:solidFill>
                  <a:srgbClr val="1F2937"/>
                </a:solidFill>
                <a:latin typeface="Aptos"/>
              </a:rPr>
              <a:t> QX0.0（1番 Pin）と QX0.2（3番 Pin）は USB と共用しているため、使用しない。使用すると USB での通信ができなくなる。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938528"/>
          <a:ext cx="10881360" cy="4407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49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ptos"/>
                        </a:rPr>
                        <a:t>基板シルク</a:t>
                      </a:r>
                    </a:p>
                  </a:txBody>
                  <a:tcPr marL="36576" marR="36576" marT="9144" marB="9144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ptos"/>
                        </a:rPr>
                        <a:t>ESP32 GPIO</a:t>
                      </a:r>
                    </a:p>
                  </a:txBody>
                  <a:tcPr marL="36576" marR="36576" marT="9144" marB="9144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ptos"/>
                        </a:rPr>
                        <a:t>MicroPython</a:t>
                      </a:r>
                    </a:p>
                  </a:txBody>
                  <a:tcPr marL="36576" marR="36576" marT="9144" marB="9144"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8493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F2937"/>
                          </a:solidFill>
                          <a:latin typeface="Aptos"/>
                        </a:rPr>
                        <a:t>IX0.0</a:t>
                      </a:r>
                    </a:p>
                  </a:txBody>
                  <a:tcPr marL="45720" marR="45720" marT="0" marB="0"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Aptos"/>
                        </a:rPr>
                        <a:t>17</a:t>
                      </a:r>
                    </a:p>
                  </a:txBody>
                  <a:tcPr marL="45720" marR="45720" marT="0" marB="0"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Aptos Mono"/>
                        </a:rPr>
                        <a:t>Pin(17, Pin.IN)</a:t>
                      </a:r>
                    </a:p>
                  </a:txBody>
                  <a:tcPr marL="45720" marR="45720" marT="0" marB="0">
                    <a:solidFill>
                      <a:srgbClr val="EE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8493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F2937"/>
                          </a:solidFill>
                          <a:latin typeface="Aptos"/>
                        </a:rPr>
                        <a:t>IX0.1</a:t>
                      </a:r>
                    </a:p>
                  </a:txBody>
                  <a:tcPr marL="45720" marR="45720" marT="0" marB="0"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Aptos"/>
                        </a:rPr>
                        <a:t>18</a:t>
                      </a:r>
                    </a:p>
                  </a:txBody>
                  <a:tcPr marL="45720" marR="45720" marT="0" marB="0"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Aptos Mono"/>
                        </a:rPr>
                        <a:t>Pin(18, Pin.IN)</a:t>
                      </a:r>
                    </a:p>
                  </a:txBody>
                  <a:tcPr marL="45720" marR="45720" marT="0" marB="0">
                    <a:solidFill>
                      <a:srgbClr val="EE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8493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F2937"/>
                          </a:solidFill>
                          <a:latin typeface="Aptos"/>
                        </a:rPr>
                        <a:t>IX0.2</a:t>
                      </a:r>
                    </a:p>
                  </a:txBody>
                  <a:tcPr marL="45720" marR="45720" marT="0" marB="0"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Aptos"/>
                        </a:rPr>
                        <a:t>19</a:t>
                      </a:r>
                    </a:p>
                  </a:txBody>
                  <a:tcPr marL="45720" marR="45720" marT="0" marB="0"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Aptos Mono"/>
                        </a:rPr>
                        <a:t>Pin(19, Pin.IN)</a:t>
                      </a:r>
                    </a:p>
                  </a:txBody>
                  <a:tcPr marL="45720" marR="45720" marT="0" marB="0">
                    <a:solidFill>
                      <a:srgbClr val="EE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8493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F2937"/>
                          </a:solidFill>
                          <a:latin typeface="Aptos"/>
                        </a:rPr>
                        <a:t>IX0.3</a:t>
                      </a:r>
                    </a:p>
                  </a:txBody>
                  <a:tcPr marL="45720" marR="45720" marT="0" marB="0"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Aptos"/>
                        </a:rPr>
                        <a:t>21</a:t>
                      </a:r>
                    </a:p>
                  </a:txBody>
                  <a:tcPr marL="45720" marR="45720" marT="0" marB="0"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Aptos Mono"/>
                        </a:rPr>
                        <a:t>Pin(21, Pin.IN)</a:t>
                      </a:r>
                    </a:p>
                  </a:txBody>
                  <a:tcPr marL="45720" marR="45720" marT="0" marB="0">
                    <a:solidFill>
                      <a:srgbClr val="EE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8493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F2937"/>
                          </a:solidFill>
                          <a:latin typeface="Aptos"/>
                        </a:rPr>
                        <a:t>IX0.4</a:t>
                      </a:r>
                    </a:p>
                  </a:txBody>
                  <a:tcPr marL="45720" marR="45720" marT="0" marB="0"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Aptos"/>
                        </a:rPr>
                        <a:t>22</a:t>
                      </a:r>
                    </a:p>
                  </a:txBody>
                  <a:tcPr marL="45720" marR="45720" marT="0" marB="0"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Aptos Mono"/>
                        </a:rPr>
                        <a:t>Pin(22, Pin.IN)</a:t>
                      </a:r>
                    </a:p>
                  </a:txBody>
                  <a:tcPr marL="45720" marR="45720" marT="0" marB="0">
                    <a:solidFill>
                      <a:srgbClr val="EE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8493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F2937"/>
                          </a:solidFill>
                          <a:latin typeface="Aptos"/>
                        </a:rPr>
                        <a:t>IX0.5</a:t>
                      </a:r>
                    </a:p>
                  </a:txBody>
                  <a:tcPr marL="45720" marR="45720" marT="0" marB="0"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Aptos"/>
                        </a:rPr>
                        <a:t>23</a:t>
                      </a:r>
                    </a:p>
                  </a:txBody>
                  <a:tcPr marL="45720" marR="45720" marT="0" marB="0"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Aptos Mono"/>
                        </a:rPr>
                        <a:t>Pin(23, Pin.IN)</a:t>
                      </a:r>
                    </a:p>
                  </a:txBody>
                  <a:tcPr marL="45720" marR="45720" marT="0" marB="0">
                    <a:solidFill>
                      <a:srgbClr val="EE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8493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F2937"/>
                          </a:solidFill>
                          <a:latin typeface="Aptos"/>
                        </a:rPr>
                        <a:t>IX0.6</a:t>
                      </a:r>
                    </a:p>
                  </a:txBody>
                  <a:tcPr marL="45720" marR="45720" marT="0" marB="0"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Aptos"/>
                        </a:rPr>
                        <a:t>27</a:t>
                      </a:r>
                    </a:p>
                  </a:txBody>
                  <a:tcPr marL="45720" marR="45720" marT="0" marB="0"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Aptos Mono"/>
                        </a:rPr>
                        <a:t>Pin(27, Pin.IN)</a:t>
                      </a:r>
                    </a:p>
                  </a:txBody>
                  <a:tcPr marL="45720" marR="45720" marT="0" marB="0">
                    <a:solidFill>
                      <a:srgbClr val="EE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8493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F2937"/>
                          </a:solidFill>
                          <a:latin typeface="Aptos"/>
                        </a:rPr>
                        <a:t>IX0.7</a:t>
                      </a:r>
                    </a:p>
                  </a:txBody>
                  <a:tcPr marL="45720" marR="45720" marT="0" marB="0"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Aptos"/>
                        </a:rPr>
                        <a:t>32</a:t>
                      </a:r>
                    </a:p>
                  </a:txBody>
                  <a:tcPr marL="45720" marR="45720" marT="0" marB="0"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Aptos Mono"/>
                        </a:rPr>
                        <a:t>Pin(32, Pin.IN)</a:t>
                      </a:r>
                    </a:p>
                  </a:txBody>
                  <a:tcPr marL="45720" marR="45720" marT="0" marB="0">
                    <a:solidFill>
                      <a:srgbClr val="EE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8493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F2937"/>
                          </a:solidFill>
                          <a:latin typeface="Aptos"/>
                        </a:rPr>
                        <a:t>IX1.0</a:t>
                      </a:r>
                    </a:p>
                  </a:txBody>
                  <a:tcPr marL="45720" marR="45720" marT="0" marB="0"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Aptos"/>
                        </a:rPr>
                        <a:t>33</a:t>
                      </a:r>
                    </a:p>
                  </a:txBody>
                  <a:tcPr marL="45720" marR="45720" marT="0" marB="0"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Aptos Mono"/>
                        </a:rPr>
                        <a:t>Pin(33, Pin.IN)</a:t>
                      </a:r>
                    </a:p>
                  </a:txBody>
                  <a:tcPr marL="45720" marR="45720" marT="0" marB="0">
                    <a:solidFill>
                      <a:srgbClr val="EE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8493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B91C1C"/>
                          </a:solidFill>
                          <a:latin typeface="Aptos"/>
                        </a:rPr>
                        <a:t>QX0.0</a:t>
                      </a:r>
                    </a:p>
                  </a:txBody>
                  <a:tcPr marL="45720" marR="45720" marT="0" marB="0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B91C1C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45720" marR="45720" marT="0" marB="0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B91C1C"/>
                          </a:solidFill>
                          <a:latin typeface="Aptos Mono"/>
                        </a:rPr>
                        <a:t>Pin(1, Pin.OUT)</a:t>
                      </a:r>
                    </a:p>
                  </a:txBody>
                  <a:tcPr marL="45720" marR="45720" marT="0" marB="0"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8493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F2937"/>
                          </a:solidFill>
                          <a:latin typeface="Aptos"/>
                        </a:rPr>
                        <a:t>QX0.1</a:t>
                      </a:r>
                    </a:p>
                  </a:txBody>
                  <a:tcPr marL="45720" marR="4572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45720" marR="4572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Aptos Mono"/>
                        </a:rPr>
                        <a:t>Pin(2, Pin.OUT)</a:t>
                      </a:r>
                    </a:p>
                  </a:txBody>
                  <a:tcPr marL="45720" marR="4572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8493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B91C1C"/>
                          </a:solidFill>
                          <a:latin typeface="Aptos"/>
                        </a:rPr>
                        <a:t>QX0.2</a:t>
                      </a:r>
                    </a:p>
                  </a:txBody>
                  <a:tcPr marL="45720" marR="45720" marT="0" marB="0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B91C1C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45720" marR="45720" marT="0" marB="0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B91C1C"/>
                          </a:solidFill>
                          <a:latin typeface="Aptos Mono"/>
                        </a:rPr>
                        <a:t>Pin(3, Pin.OUT)</a:t>
                      </a:r>
                    </a:p>
                  </a:txBody>
                  <a:tcPr marL="45720" marR="45720" marT="0" marB="0"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8493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F2937"/>
                          </a:solidFill>
                          <a:latin typeface="Aptos"/>
                        </a:rPr>
                        <a:t>QX0.3</a:t>
                      </a:r>
                    </a:p>
                  </a:txBody>
                  <a:tcPr marL="45720" marR="4572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45720" marR="4572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Aptos Mono"/>
                        </a:rPr>
                        <a:t>Pin(4, Pin.OUT)</a:t>
                      </a:r>
                    </a:p>
                  </a:txBody>
                  <a:tcPr marL="45720" marR="4572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8493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F2937"/>
                          </a:solidFill>
                          <a:latin typeface="Aptos"/>
                        </a:rPr>
                        <a:t>QX0.4</a:t>
                      </a:r>
                    </a:p>
                  </a:txBody>
                  <a:tcPr marL="45720" marR="4572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45720" marR="4572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Aptos Mono"/>
                        </a:rPr>
                        <a:t>Pin(5, Pin.OUT)</a:t>
                      </a:r>
                    </a:p>
                  </a:txBody>
                  <a:tcPr marL="45720" marR="4572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8493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F2937"/>
                          </a:solidFill>
                          <a:latin typeface="Aptos"/>
                        </a:rPr>
                        <a:t>QX0.5</a:t>
                      </a:r>
                    </a:p>
                  </a:txBody>
                  <a:tcPr marL="45720" marR="4572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Aptos"/>
                        </a:rPr>
                        <a:t>12</a:t>
                      </a:r>
                    </a:p>
                  </a:txBody>
                  <a:tcPr marL="45720" marR="4572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Aptos Mono"/>
                        </a:rPr>
                        <a:t>Pin(12, Pin.OUT)</a:t>
                      </a:r>
                    </a:p>
                  </a:txBody>
                  <a:tcPr marL="45720" marR="4572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8493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F2937"/>
                          </a:solidFill>
                          <a:latin typeface="Aptos"/>
                        </a:rPr>
                        <a:t>QX0.6</a:t>
                      </a:r>
                    </a:p>
                  </a:txBody>
                  <a:tcPr marL="45720" marR="4572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Aptos"/>
                        </a:rPr>
                        <a:t>13</a:t>
                      </a:r>
                    </a:p>
                  </a:txBody>
                  <a:tcPr marL="45720" marR="4572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Aptos Mono"/>
                        </a:rPr>
                        <a:t>Pin(13, Pin.OUT)</a:t>
                      </a:r>
                    </a:p>
                  </a:txBody>
                  <a:tcPr marL="45720" marR="4572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8493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F2937"/>
                          </a:solidFill>
                          <a:latin typeface="Aptos"/>
                        </a:rPr>
                        <a:t>QX0.7</a:t>
                      </a:r>
                    </a:p>
                  </a:txBody>
                  <a:tcPr marL="45720" marR="4572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Aptos"/>
                        </a:rPr>
                        <a:t>14</a:t>
                      </a:r>
                    </a:p>
                  </a:txBody>
                  <a:tcPr marL="45720" marR="4572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Aptos Mono"/>
                        </a:rPr>
                        <a:t>Pin(14, Pin.OUT)</a:t>
                      </a:r>
                    </a:p>
                  </a:txBody>
                  <a:tcPr marL="45720" marR="4572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8493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F2937"/>
                          </a:solidFill>
                          <a:latin typeface="Aptos"/>
                        </a:rPr>
                        <a:t>QX1.0</a:t>
                      </a:r>
                    </a:p>
                  </a:txBody>
                  <a:tcPr marL="45720" marR="4572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Aptos"/>
                        </a:rPr>
                        <a:t>15</a:t>
                      </a:r>
                    </a:p>
                  </a:txBody>
                  <a:tcPr marL="45720" marR="4572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Aptos Mono"/>
                        </a:rPr>
                        <a:t>Pin(15, Pin.OUT)</a:t>
                      </a:r>
                    </a:p>
                  </a:txBody>
                  <a:tcPr marL="45720" marR="4572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8493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F2937"/>
                          </a:solidFill>
                          <a:latin typeface="Aptos"/>
                        </a:rPr>
                        <a:t>QX1.1</a:t>
                      </a:r>
                    </a:p>
                  </a:txBody>
                  <a:tcPr marL="45720" marR="4572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Aptos"/>
                        </a:rPr>
                        <a:t>16</a:t>
                      </a:r>
                    </a:p>
                  </a:txBody>
                  <a:tcPr marL="45720" marR="4572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Aptos Mono"/>
                        </a:rPr>
                        <a:t>Pin(16, Pin.OUT)</a:t>
                      </a:r>
                    </a:p>
                  </a:txBody>
                  <a:tcPr marL="45720" marR="4572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384280" y="6473952"/>
            <a:ext cx="274320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470</Words>
  <Application>Microsoft Office PowerPoint</Application>
  <PresentationFormat>ワイド画面</PresentationFormat>
  <Paragraphs>138</Paragraphs>
  <Slides>6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2" baseType="lpstr">
      <vt:lpstr>Noto Sans CJK JP</vt:lpstr>
      <vt:lpstr>游ゴシック</vt:lpstr>
      <vt:lpstr>Aptos</vt:lpstr>
      <vt:lpstr>Aptos Mono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広島県立技術短期大学校 マイコン実習2026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CQ出版 ESP32 PLC基板を使ってみる</dc:title>
  <dc:subject>CQ出版 ESP32 PLC基板 紹介</dc:subject>
  <dc:creator>OpenAI</dc:creator>
  <cp:lastModifiedBy>久保田 貴也</cp:lastModifiedBy>
  <cp:revision>2</cp:revision>
  <dcterms:created xsi:type="dcterms:W3CDTF">2026-10-23T06:58:13Z</dcterms:created>
  <dcterms:modified xsi:type="dcterms:W3CDTF">2026-10-23T07:26:27Z</dcterms:modified>
</cp:coreProperties>
</file>